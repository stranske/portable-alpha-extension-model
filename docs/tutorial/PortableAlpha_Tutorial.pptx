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2286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Aptos"/>
              </a:rPr>
              <a:t>REORIENTATION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987552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Aptos"/>
              </a:rPr>
              <a:t>Portable Alpha + Active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00784"/>
            <a:ext cx="77724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800" b="0">
                <a:solidFill>
                  <a:srgbClr val="4B5563"/>
                </a:solidFill>
                <a:latin typeface="Aptos"/>
              </a:rPr>
              <a:t>Runnable notebook plus companion deck for reading the math, running the model, and avoiding misuse.</a:t>
            </a:r>
          </a:p>
        </p:txBody>
      </p:sp>
      <p:pic>
        <p:nvPicPr>
          <p:cNvPr id="5" name="Picture 4" descr="fig_risk_ret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331720"/>
            <a:ext cx="534924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2788920"/>
            <a:ext cx="4343400" cy="2331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035808"/>
            <a:ext cx="38862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Executes end to end against pa_core.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Uses same-seed scenarios for parameter effects.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Saves notebook figures under docs/tutorial/figs/.</a:t>
            </a:r>
          </a:p>
          <a:p>
            <a:pPr>
              <a:spcAft>
                <a:spcPts val="6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Makes limitations prominent before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A Monte Carlo workbench for beta, alpha, financing, and sleeve 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33756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57984"/>
            <a:ext cx="2834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100" b="1">
                <a:solidFill>
                  <a:srgbClr val="2563EB"/>
                </a:solidFill>
                <a:latin typeface="Aptos"/>
              </a:rPr>
              <a:t>pa_core/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97480"/>
            <a:ext cx="2834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B5563"/>
                </a:solidFill>
                <a:latin typeface="Aptos"/>
              </a:defRPr>
            </a:pPr>
            <a:r>
              <a:t>Agents, joint draws, covariance repair, financing, metrics, reporting, and viz.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874519"/>
            <a:ext cx="333756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157984"/>
            <a:ext cx="2834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100" b="1">
                <a:solidFill>
                  <a:srgbClr val="059669"/>
                </a:solidFill>
                <a:latin typeface="Aptos"/>
              </a:rPr>
              <a:t>dashboard/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697480"/>
            <a:ext cx="2834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B5563"/>
                </a:solidFill>
                <a:latin typeface="Aptos"/>
              </a:defRPr>
            </a:pPr>
            <a:r>
              <a:t>Seven Streamlit pages: asset library, portfolio builder, wizard, results, grid, stress lab,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74519"/>
            <a:ext cx="333756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157984"/>
            <a:ext cx="2834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100" b="1">
                <a:solidFill>
                  <a:srgbClr val="DC2626"/>
                </a:solidFill>
                <a:latin typeface="Aptos"/>
              </a:rPr>
              <a:t>pa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697480"/>
            <a:ext cx="2834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B5563"/>
                </a:solidFill>
                <a:latin typeface="Aptos"/>
              </a:defRPr>
            </a:pPr>
            <a:r>
              <a:t>Single runs, sweeps, sensitivity, sleeve suggestions, packet exports, and dashboard launch.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440680"/>
            <a:ext cx="10698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F2937"/>
                </a:solidFill>
                <a:latin typeface="Aptos"/>
              </a:rPr>
              <a:t>Core interpretation: sleeves emit fund-level contribution returns. Total is overlay contribution, not Base plus overlays.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SLEEVES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The sleeve picture separates reference return from overlay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03</a:t>
            </a:r>
          </a:p>
        </p:txBody>
      </p:sp>
      <p:pic>
        <p:nvPicPr>
          <p:cNvPr id="7" name="Picture 6" descr="fig_sleeve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1056132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080760"/>
            <a:ext cx="10149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Aptos"/>
              </a:rPr>
              <a:t>Base is the benchmark/reference mix; Total sums ExternalPA, ActiveExt, InternalPA, and InternalBeta contributions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FINANCE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Portable alpha ports skill onto beta, but financing and capacity decide whether it pays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971800" cy="2377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468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Beta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23317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ptos"/>
              </a:rPr>
              <a:t>Index exposure or efficient beta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28800"/>
            <a:ext cx="2971800" cy="2377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148840"/>
            <a:ext cx="2468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059669"/>
                </a:solidFill>
                <a:latin typeface="Aptos"/>
              </a:rPr>
              <a:t>Alpha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788920"/>
            <a:ext cx="23317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ptos"/>
              </a:rPr>
              <a:t>External, internal, or extension manager skill stream.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828800"/>
            <a:ext cx="2971800" cy="2377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148840"/>
            <a:ext cx="24688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DC2626"/>
                </a:solidFill>
                <a:latin typeface="Aptos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788920"/>
            <a:ext cx="23317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ptos"/>
              </a:rPr>
              <a:t>Financing, margin, active share, TC decay, and tail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Aptos"/>
              </a:rPr>
              <a:t>The model shows what has to be true for assumed alpha to survive risk, cost, and capital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SLEEVE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Sleeve outputs are contribution returns, already scaled to the fund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120640" cy="4315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4297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Equations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0280"/>
            <a:ext cx="448056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ExternalPA: r = w(r_beta - f) + (w*theta) r_M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ActiveExt: r = w(r_beta - f) + (w*s) r_E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InternalPA: r = a r_H - f_ipa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Base: r = w_beta(r_beta - f) + w_alpha r_H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Total = sum overlay sleeves, excluding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26280"/>
            <a:ext cx="4297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Aptos"/>
              </a:rPr>
              <a:t>Plain-English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84632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Aptos"/>
              </a:defRPr>
            </a:pPr>
            <a:r>
              <a:t>Read each term as fund-level contribution, not standalone manager performance.</a:t>
            </a:r>
          </a:p>
        </p:txBody>
      </p:sp>
      <p:pic>
        <p:nvPicPr>
          <p:cNvPr id="12" name="Picture 11" descr="fig_3a_sleeve_con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627632"/>
            <a:ext cx="530352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DRAWS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Annual inputs become monthly draws before the engine compounds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120640" cy="4315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4297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Equations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0280"/>
            <a:ext cx="448056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mu_m = mu_a / 12 by default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sigma_m = sigma_a / sqrt(12)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Sigma_m = Sigma_a / 12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r ~ Normal(mu, Sigma)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Student-t scale = sqrt((df - 2) / df)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26280"/>
            <a:ext cx="4297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Aptos"/>
              </a:rPr>
              <a:t>Plain-English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84632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Aptos"/>
              </a:defRPr>
            </a:pPr>
            <a:r>
              <a:t>Mean conversion is a convention; volatility and covariance follow variance scaling.</a:t>
            </a:r>
          </a:p>
        </p:txBody>
      </p:sp>
      <p:pic>
        <p:nvPicPr>
          <p:cNvPr id="12" name="Picture 11" descr="fig_3b_unit_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627632"/>
            <a:ext cx="530352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RISK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Covariance repair and TE definitions shape the headline risk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120640" cy="4315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4297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Equations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0280"/>
            <a:ext cx="448056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Sigma = (sigma sigma^T) o C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nearest-PSD repair clips negative eigenvalues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Sigma_hat = (1 - delta) S + delta 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TE = std(r - r_bench) * sqrt(12)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Code TE pools all path x month draws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26280"/>
            <a:ext cx="4297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Aptos"/>
              </a:rPr>
              <a:t>Plain-English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84632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Aptos"/>
              </a:defRPr>
            </a:pPr>
            <a:r>
              <a:t>The audit nuance is not cosmetic: pooled and per-path TE can differ.</a:t>
            </a:r>
          </a:p>
        </p:txBody>
      </p:sp>
      <p:pic>
        <p:nvPicPr>
          <p:cNvPr id="12" name="Picture 11" descr="fig_3e_tracking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627632"/>
            <a:ext cx="530352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HEADLINE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The risk-return scatter should identify every sleeve and call out Base and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08</a:t>
            </a:r>
          </a:p>
        </p:txBody>
      </p:sp>
      <p:pic>
        <p:nvPicPr>
          <p:cNvPr id="7" name="Picture 6" descr="fig_risk_ret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9848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080760"/>
            <a:ext cx="102412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Aptos"/>
              </a:rPr>
              <a:t>Good version: TE on x, terminal excess return on y, visible legend, and distinct Base/Total markers.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The transfer coefficient turns active share from a linear lever into a capacity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120640" cy="4315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4297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Equations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0280"/>
            <a:ext cx="448056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TC(s) = 1 / (1 + kappa*s)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alpha_gross(s) = s*mu / (1 + kappa*s)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s* = (sqrt(mu/c) - 1) / kappa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Example: mu=0.05/12, c=0.0026, kappa=0.43, s* approx 0.62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26280"/>
            <a:ext cx="4297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Aptos"/>
              </a:rPr>
              <a:t>Plain-English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84632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Aptos"/>
              </a:defRPr>
            </a:pPr>
            <a:r>
              <a:t>More active share still increases risk linearly, while expected alpha rises more slowly.</a:t>
            </a:r>
          </a:p>
        </p:txBody>
      </p:sp>
      <p:pic>
        <p:nvPicPr>
          <p:cNvPr id="12" name="Picture 11" descr="fig_active_shar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627632"/>
            <a:ext cx="530352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FUNDAMENTAL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TC is the bridge from portfolio constraints to expected active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120640" cy="4315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4297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Aptos"/>
              </a:rPr>
              <a:t>Equations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0280"/>
            <a:ext cx="448056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IR = IC * sqrt(BR) * TC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alpha = IR * sigma_active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IC = skill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BR = breadth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TC = transfer of ideal views into the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26280"/>
            <a:ext cx="4297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Aptos"/>
              </a:rPr>
              <a:t>Plain-English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846320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Aptos"/>
              </a:defRPr>
            </a:pPr>
            <a:r>
              <a:t>The TC decay in 3g lowers IR as active share rises.</a:t>
            </a:r>
          </a:p>
        </p:txBody>
      </p:sp>
      <p:pic>
        <p:nvPicPr>
          <p:cNvPr id="12" name="Picture 11" descr="fig_3h_fundamental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627632"/>
            <a:ext cx="530352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The Total wealth fan shows the range of compounded outcomes, not just a point estimate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fig_total_f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1028700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6062472"/>
            <a:ext cx="9966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Aptos"/>
              </a:rPr>
              <a:t>Median, interquartile band, and 5th-95th band make path uncertainty visible.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Normal and Student-t assumptions can produce similar vol but different left 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fig_total_return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10287000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6062472"/>
            <a:ext cx="9966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Aptos"/>
              </a:rPr>
              <a:t>Distribution choice and copula choice are model assumptions, not facts.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A user can move from wizard to CLI to Results to board-pack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233172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48840"/>
            <a:ext cx="19202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900" b="1">
                <a:solidFill>
                  <a:srgbClr val="2563EB"/>
                </a:solidFill>
                <a:latin typeface="Aptos"/>
              </a:rPr>
              <a:t>1. Wizard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24912"/>
            <a:ext cx="1920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Aptos"/>
              </a:defRPr>
            </a:pPr>
            <a:r>
              <a:t>Load data, set capital, returns, financing, regimes, export YAML.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74519"/>
            <a:ext cx="233172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148840"/>
            <a:ext cx="19202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900" b="1">
                <a:solidFill>
                  <a:srgbClr val="059669"/>
                </a:solidFill>
                <a:latin typeface="Aptos"/>
              </a:rPr>
              <a:t>2.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24912"/>
            <a:ext cx="1920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Aptos"/>
              </a:defRPr>
            </a:pPr>
            <a:r>
              <a:t>Run single scenarios or sweeps with fixed seeds and workbook outputs.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874519"/>
            <a:ext cx="233172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148840"/>
            <a:ext cx="19202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900" b="1">
                <a:solidFill>
                  <a:srgbClr val="D97706"/>
                </a:solidFill>
                <a:latin typeface="Aptos"/>
              </a:rPr>
              <a:t>3.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724912"/>
            <a:ext cx="1920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Aptos"/>
              </a:defRPr>
            </a:pPr>
            <a:r>
              <a:t>Inspect headline, fan, path distribution, diagnostics, comparisons.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4" y="1874519"/>
            <a:ext cx="2331720" cy="3063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4" y="2148840"/>
            <a:ext cx="19202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900" b="1">
                <a:solidFill>
                  <a:srgbClr val="DC2626"/>
                </a:solidFill>
                <a:latin typeface="Aptos"/>
              </a:rPr>
              <a:t>4.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4" y="2724912"/>
            <a:ext cx="1920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Aptos"/>
              </a:defRPr>
            </a:pPr>
            <a:r>
              <a:t>Use --pptx or --packet for board-pack-ready artifacts.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103784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F2937"/>
                </a:solidFill>
                <a:latin typeface="Aptos"/>
              </a:rPr>
              <a:t>Analysis modes: returns, capital, alpha_shares, vol_mult. Add sensitivity and sleeve optimization for robustness and feasible allocation.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The sweep and optimization surfaces answer different user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91640"/>
            <a:ext cx="78638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Sensitivity to alpha and volatility assumptions.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78638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How sleeve allocation moves return and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alpha_shares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46120"/>
            <a:ext cx="78638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How theta and active share change risk/return.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vol_mult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023360"/>
            <a:ext cx="78638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What happens when alpha-stream volatilities are stressed.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1965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800" b="1">
                <a:solidFill>
                  <a:srgbClr val="2563EB"/>
                </a:solidFill>
                <a:latin typeface="Aptos"/>
              </a:rPr>
              <a:t>suggest/optimize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00600"/>
            <a:ext cx="78638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Which feasible combinations meet TE, breach, CVaR, and shortfall constraints.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The model is a scenario workbench, not proof a strategy will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4241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Gross of fees: fee and implementation layers can erase simulated value.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Total excludes Base: overlay contribution is not whole-fund return.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broadcast financing understates dispersion relative to per_path.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Regimes are honored in run_single but not in sweeps.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TC decay and active-share capacity are assumptions requiring calibration.</a:t>
            </a:r>
          </a:p>
        </p:txBody>
      </p:sp>
      <p:pic>
        <p:nvPicPr>
          <p:cNvPr id="8" name="Picture 7" descr="fig_3f_var_c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160520"/>
            <a:ext cx="9601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MISUSE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Ask these before showing the result to colleagues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056132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Can every alpha, vol, correlation, financing, and TC assumption be sourced?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Are the results net of the costs the fund actually pays?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Did tail-sensitive work use per_path financing?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If regimes matter, was the result from a regime-aware run rather than a sweep?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Are Total and Base labeled so no one confuses overlay contribution with whole-fund return?</a:t>
            </a:r>
          </a:p>
          <a:p>
            <a:pPr>
              <a:spcAft>
                <a:spcPts val="6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Would the conclusion survive lower alpha, higher financing, higher stress correlation, and fatter tails?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24688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RUN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12648"/>
            <a:ext cx="1097280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ptos"/>
              </a:rPr>
              <a:t>Reproduce the tutorial and change one assumption at a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09960" cy="914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2743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Portable Alpha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ptos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1060704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38528"/>
            <a:ext cx="10104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Aptos"/>
              </a:rPr>
              <a:t>jupyter nbconvert --to notebook --execute --inplace docs/tutorial/PortableAlpha_Tutorial.ipynb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1060704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81528"/>
            <a:ext cx="10104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Aptos"/>
              </a:rPr>
              <a:t>pa run --config examples/scenarios/active_extension_diminishing_returns.yml --index data/sp500tr_fred_divyield.csv --output Outputs.xlsx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1060704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24528"/>
            <a:ext cx="10104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Aptos"/>
              </a:rPr>
              <a:t>pa run --config config/params_template.yml --index data/sp500tr_fred_divyield.csv --sensitivity --packet --output Results.xlsx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32120"/>
            <a:ext cx="105156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800" b="1">
                <a:solidFill>
                  <a:srgbClr val="DC2626"/>
                </a:solidFill>
                <a:latin typeface="Aptos"/>
              </a:rPr>
              <a:t>Use same seeds for parameter comparisons. Change one parameter at a time when explaining cause and effect.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